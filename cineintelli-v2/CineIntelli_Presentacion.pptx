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3F4F6"/>
                </a:solidFill>
                <a:latin typeface="Arial"/>
              </a:defRPr>
            </a:pPr>
            <a:r>
              <a:t>CineIntelli V2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3200400" cy="91440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9CA3AF"/>
                </a:solidFill>
                <a:latin typeface="Arial"/>
              </a:defRPr>
            </a:pPr>
            <a:r>
              <a:t>Sistema Inteligente y Realista de Recomendación de Películas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3F4F6"/>
                </a:solidFill>
                <a:latin typeface="Arial"/>
              </a:defRPr>
            </a:pPr>
            <a:r>
              <a:t>Integrantes:</a:t>
            </a:r>
            <a:br/>
            <a:r>
              <a:t>- Eleangie Valentina Mendoza Gómez</a:t>
            </a:r>
            <a:br/>
            <a:r>
              <a:t>- Daniel José Tavera Carreño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t>Proyecto Final de Programación Web &amp; Ingeniería de Software  •  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  <a:latin typeface="Arial"/>
              </a:defRPr>
            </a:pPr>
            <a:r>
              <a:t>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El Problema en los Sistemas de Recomendación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3F4F6"/>
                </a:solidFill>
              </a:defRPr>
            </a:pPr>
            <a:r>
              <a:t>La Burbuja de Filtro y Frustración</a:t>
            </a:r>
          </a:p>
          <a:p>
            <a:pPr>
              <a:spcAft>
                <a:spcPts val="1200"/>
              </a:spcAft>
              <a:defRPr sz="1600">
                <a:solidFill>
                  <a:srgbClr val="9CA3AF"/>
                </a:solidFill>
              </a:defRPr>
            </a:pPr>
            <a:r>
              <a:t>• Saturación de Opciones: Los usuarios gastan más tiempo buscando qué ver que disfrutando.</a:t>
            </a:r>
          </a:p>
          <a:p>
            <a:pPr>
              <a:spcAft>
                <a:spcPts val="1200"/>
              </a:spcAft>
              <a:defRPr sz="1600">
                <a:solidFill>
                  <a:srgbClr val="9CA3AF"/>
                </a:solidFill>
              </a:defRPr>
            </a:pPr>
            <a:r>
              <a:t>• Recomendaciones Redundantes: Algoritmos rígidos encierran al usuario en el mismo género.</a:t>
            </a:r>
          </a:p>
          <a:p>
            <a:pPr>
              <a:spcAft>
                <a:spcPts val="1200"/>
              </a:spcAft>
              <a:defRPr sz="1600">
                <a:solidFill>
                  <a:srgbClr val="9CA3AF"/>
                </a:solidFill>
              </a:defRPr>
            </a:pPr>
            <a:r>
              <a:t>• Arranque en Frío: Falta de Onboarding inicial. El sistema no sabe qué sugerir al principio.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50914"/>
                </a:solidFill>
              </a:defRPr>
            </a:pPr>
            <a:r>
              <a:t>Problemas de Datos Ficticios</a:t>
            </a:r>
          </a:p>
          <a:p>
            <a:pPr>
              <a:spcAft>
                <a:spcPts val="1200"/>
              </a:spcAft>
              <a:defRPr sz="1600">
                <a:solidFill>
                  <a:srgbClr val="9CA3AF"/>
                </a:solidFill>
              </a:defRPr>
            </a:pPr>
            <a:r>
              <a:t>• Catálogos Falsos: Datos inventados destruyen la credibilidad y usabilidad del sistema.</a:t>
            </a:r>
          </a:p>
          <a:p>
            <a:pPr>
              <a:spcAft>
                <a:spcPts val="1200"/>
              </a:spcAft>
              <a:defRPr sz="1600">
                <a:solidFill>
                  <a:srgbClr val="9CA3AF"/>
                </a:solidFill>
              </a:defRPr>
            </a:pPr>
            <a:r>
              <a:t>• Calificaciones Irreales: Ratings inflados (&gt;9.5) hacen percibir al producto como fake.</a:t>
            </a:r>
          </a:p>
          <a:p>
            <a:pPr>
              <a:spcAft>
                <a:spcPts val="1200"/>
              </a:spcAft>
              <a:defRPr sz="1600">
                <a:solidFill>
                  <a:srgbClr val="9CA3AF"/>
                </a:solidFill>
              </a:defRPr>
            </a:pPr>
            <a:r>
              <a:t>• Fricción Operativa: Experiencias iniciales rotas, requiriendo llamadas curl manuales.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  <a:latin typeface="Arial"/>
              </a:defRPr>
            </a:pPr>
            <a:r>
              <a:t>PROPUESTA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La Solución: CineIntelli V2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 b="0">
                <a:solidFill>
                  <a:srgbClr val="9CA3AF"/>
                </a:solidFill>
              </a:defRPr>
            </a:pPr>
            <a:r>
              <a:t>✔ Catálogo de Películas Reales: Sincronizado completamente mediante la API de TMDB (1200+ películas reales como Inception, Matrix o Interstellar).</a:t>
            </a:r>
          </a:p>
          <a:p>
            <a:pPr>
              <a:spcAft>
                <a:spcPts val="1800"/>
              </a:spcAft>
              <a:defRPr sz="1600" b="0">
                <a:solidFill>
                  <a:srgbClr val="9CA3AF"/>
                </a:solidFill>
              </a:defRPr>
            </a:pPr>
            <a:r>
              <a:t>✔ Motor Inteligente Híbrido: Combina un 70% de afinidad según gustos del usuario con un 30% de exploración controlada para descubrir nuevas joyas.</a:t>
            </a:r>
          </a:p>
          <a:p>
            <a:pPr>
              <a:spcAft>
                <a:spcPts val="1800"/>
              </a:spcAft>
              <a:defRPr sz="1600" b="0">
                <a:solidFill>
                  <a:srgbClr val="9CA3AF"/>
                </a:solidFill>
              </a:defRPr>
            </a:pPr>
            <a:r>
              <a:t>✔ Explicabilidad Dinámica: Transparencia total. El sistema detalla por qué te recomienda cada título (affinity / exploration + reason visual).</a:t>
            </a:r>
          </a:p>
          <a:p>
            <a:pPr>
              <a:spcAft>
                <a:spcPts val="1800"/>
              </a:spcAft>
              <a:defRPr sz="1600" b="0">
                <a:solidFill>
                  <a:srgbClr val="9CA3AF"/>
                </a:solidFill>
              </a:defRPr>
            </a:pPr>
            <a:r>
              <a:t>✔ Cero Fricción en Evaluación: Lanzadores locales automáticos (1 clic) y despliegue público en la nube a través de Railway.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  <a:latin typeface="Arial"/>
              </a:defRPr>
            </a:pPr>
            <a:r>
              <a:t>ESTRUCTURA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Arquitectura del Sistema Desacoplada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468880" cy="4114800"/>
          </a:xfrm>
          <a:prstGeom prst="rect">
            <a:avLst/>
          </a:prstGeom>
          <a:solidFill>
            <a:srgbClr val="1F2937"/>
          </a:solidFill>
          <a:ln w="63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50914"/>
                </a:solidFill>
              </a:defRPr>
            </a:pPr>
            <a:r>
              <a:t>FRONTEND</a:t>
            </a:r>
          </a:p>
          <a:p>
            <a:pPr algn="ctr">
              <a:spcAft>
                <a:spcPts val="1400"/>
              </a:spcAft>
              <a:defRPr sz="1600" b="1">
                <a:solidFill>
                  <a:srgbClr val="F3F4F6"/>
                </a:solidFill>
              </a:defRPr>
            </a:pPr>
            <a:r>
              <a:t>React + Tailwind</a:t>
            </a:r>
          </a:p>
          <a:p>
            <a:pPr>
              <a:spcAft>
                <a:spcPts val="600"/>
              </a:spcAft>
              <a:defRPr sz="1200">
                <a:solidFill>
                  <a:srgbClr val="9CA3AF"/>
                </a:solidFill>
              </a:defRPr>
            </a:pPr>
            <a:r>
              <a:t>• SPA de alto rendimiento</a:t>
            </a:r>
          </a:p>
          <a:p>
            <a:pPr>
              <a:spcAft>
                <a:spcPts val="600"/>
              </a:spcAft>
              <a:defRPr sz="1200">
                <a:solidFill>
                  <a:srgbClr val="9CA3AF"/>
                </a:solidFill>
              </a:defRPr>
            </a:pPr>
            <a:r>
              <a:t>• Diseño responsivo premium</a:t>
            </a:r>
          </a:p>
          <a:p>
            <a:pPr>
              <a:spcAft>
                <a:spcPts val="600"/>
              </a:spcAft>
              <a:defRPr sz="1200">
                <a:solidFill>
                  <a:srgbClr val="9CA3AF"/>
                </a:solidFill>
              </a:defRPr>
            </a:pPr>
            <a:r>
              <a:t>• Feedback Like/Dislike</a:t>
            </a:r>
          </a:p>
          <a:p>
            <a:pPr>
              <a:spcAft>
                <a:spcPts val="600"/>
              </a:spcAft>
              <a:defRPr sz="1200">
                <a:solidFill>
                  <a:srgbClr val="9CA3AF"/>
                </a:solidFill>
              </a:defRPr>
            </a:pPr>
            <a:r>
              <a:t>• CineRoulette temática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2468880" cy="4114800"/>
          </a:xfrm>
          <a:prstGeom prst="rect">
            <a:avLst/>
          </a:prstGeom>
          <a:solidFill>
            <a:srgbClr val="1F2937"/>
          </a:solidFill>
          <a:ln w="63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50914"/>
                </a:solidFill>
              </a:defRPr>
            </a:pPr>
            <a:r>
              <a:t>BACKEND</a:t>
            </a:r>
          </a:p>
          <a:p>
            <a:pPr algn="ctr">
              <a:spcAft>
                <a:spcPts val="1400"/>
              </a:spcAft>
              <a:defRPr sz="1600" b="1">
                <a:solidFill>
                  <a:srgbClr val="F3F4F6"/>
                </a:solidFill>
              </a:defRPr>
            </a:pPr>
            <a:r>
              <a:t>FastAPI (Python)</a:t>
            </a:r>
          </a:p>
          <a:p>
            <a:pPr>
              <a:spcAft>
                <a:spcPts val="600"/>
              </a:spcAft>
              <a:defRPr sz="1200">
                <a:solidFill>
                  <a:srgbClr val="9CA3AF"/>
                </a:solidFill>
              </a:defRPr>
            </a:pPr>
            <a:r>
              <a:t>• Endpoints REST modulares</a:t>
            </a:r>
          </a:p>
          <a:p>
            <a:pPr>
              <a:spcAft>
                <a:spcPts val="600"/>
              </a:spcAft>
              <a:defRPr sz="1200">
                <a:solidFill>
                  <a:srgbClr val="9CA3AF"/>
                </a:solidFill>
              </a:defRPr>
            </a:pPr>
            <a:r>
              <a:t>• Rápido y asíncrono</a:t>
            </a:r>
          </a:p>
          <a:p>
            <a:pPr>
              <a:spcAft>
                <a:spcPts val="600"/>
              </a:spcAft>
              <a:defRPr sz="1200">
                <a:solidFill>
                  <a:srgbClr val="9CA3AF"/>
                </a:solidFill>
              </a:defRPr>
            </a:pPr>
            <a:r>
              <a:t>• Modo Demo auto-onboard</a:t>
            </a:r>
          </a:p>
          <a:p>
            <a:pPr>
              <a:spcAft>
                <a:spcPts val="600"/>
              </a:spcAft>
              <a:defRPr sz="1200">
                <a:solidFill>
                  <a:srgbClr val="9CA3AF"/>
                </a:solidFill>
              </a:defRPr>
            </a:pPr>
            <a:r>
              <a:t>• Validaciones en queries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2468880" cy="4114800"/>
          </a:xfrm>
          <a:prstGeom prst="rect">
            <a:avLst/>
          </a:prstGeom>
          <a:solidFill>
            <a:srgbClr val="1F2937"/>
          </a:solidFill>
          <a:ln w="63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50914"/>
                </a:solidFill>
              </a:defRPr>
            </a:pPr>
            <a:r>
              <a:t>BASE DE DATOS</a:t>
            </a:r>
          </a:p>
          <a:p>
            <a:pPr algn="ctr">
              <a:spcAft>
                <a:spcPts val="1400"/>
              </a:spcAft>
              <a:defRPr sz="1600" b="1">
                <a:solidFill>
                  <a:srgbClr val="F3F4F6"/>
                </a:solidFill>
              </a:defRPr>
            </a:pPr>
            <a:r>
              <a:t>SQLite &amp; SQLAlchemy</a:t>
            </a:r>
          </a:p>
          <a:p>
            <a:pPr>
              <a:spcAft>
                <a:spcPts val="600"/>
              </a:spcAft>
              <a:defRPr sz="1200">
                <a:solidFill>
                  <a:srgbClr val="9CA3AF"/>
                </a:solidFill>
              </a:defRPr>
            </a:pPr>
            <a:r>
              <a:t>• Tabla modular de películas</a:t>
            </a:r>
          </a:p>
          <a:p>
            <a:pPr>
              <a:spcAft>
                <a:spcPts val="600"/>
              </a:spcAft>
              <a:defRPr sz="1200">
                <a:solidFill>
                  <a:srgbClr val="9CA3AF"/>
                </a:solidFill>
              </a:defRPr>
            </a:pPr>
            <a:r>
              <a:t>• Validación DateTime nativa</a:t>
            </a:r>
          </a:p>
          <a:p>
            <a:pPr>
              <a:spcAft>
                <a:spcPts val="600"/>
              </a:spcAft>
              <a:defRPr sz="1200">
                <a:solidFill>
                  <a:srgbClr val="9CA3AF"/>
                </a:solidFill>
              </a:defRPr>
            </a:pPr>
            <a:r>
              <a:t>• Rápido y portable</a:t>
            </a:r>
          </a:p>
          <a:p>
            <a:pPr>
              <a:spcAft>
                <a:spcPts val="600"/>
              </a:spcAft>
              <a:defRPr sz="1200">
                <a:solidFill>
                  <a:srgbClr val="9CA3AF"/>
                </a:solidFill>
              </a:defRPr>
            </a:pPr>
            <a:r>
              <a:t>• Pool de conexiones robusto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828800"/>
            <a:ext cx="2468880" cy="4114800"/>
          </a:xfrm>
          <a:prstGeom prst="rect">
            <a:avLst/>
          </a:prstGeom>
          <a:solidFill>
            <a:srgbClr val="1F2937"/>
          </a:solidFill>
          <a:ln w="19050"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92024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50914"/>
                </a:solidFill>
              </a:defRPr>
            </a:pPr>
            <a:r>
              <a:t>ENTREGA</a:t>
            </a:r>
          </a:p>
          <a:p>
            <a:pPr algn="ctr">
              <a:spcAft>
                <a:spcPts val="1400"/>
              </a:spcAft>
              <a:defRPr sz="1600" b="1">
                <a:solidFill>
                  <a:srgbClr val="F3F4F6"/>
                </a:solidFill>
              </a:defRPr>
            </a:pPr>
            <a:r>
              <a:t>Railway &amp; Launchers</a:t>
            </a:r>
          </a:p>
          <a:p>
            <a:pPr>
              <a:spcAft>
                <a:spcPts val="600"/>
              </a:spcAft>
              <a:defRPr sz="1200">
                <a:solidFill>
                  <a:srgbClr val="9CA3AF"/>
                </a:solidFill>
              </a:defRPr>
            </a:pPr>
            <a:r>
              <a:t>• Deploy ultra-rápido (&lt;2m)</a:t>
            </a:r>
          </a:p>
          <a:p>
            <a:pPr>
              <a:spcAft>
                <a:spcPts val="600"/>
              </a:spcAft>
              <a:defRPr sz="1200">
                <a:solidFill>
                  <a:srgbClr val="9CA3AF"/>
                </a:solidFill>
              </a:defRPr>
            </a:pPr>
            <a:r>
              <a:t>• start_app lanzadores locales</a:t>
            </a:r>
          </a:p>
          <a:p>
            <a:pPr>
              <a:spcAft>
                <a:spcPts val="600"/>
              </a:spcAft>
              <a:defRPr sz="1200">
                <a:solidFill>
                  <a:srgbClr val="9CA3AF"/>
                </a:solidFill>
              </a:defRPr>
            </a:pPr>
            <a:r>
              <a:t>• frontend/dist empaquetado</a:t>
            </a:r>
          </a:p>
          <a:p>
            <a:pPr>
              <a:spcAft>
                <a:spcPts val="600"/>
              </a:spcAft>
              <a:defRPr sz="1200">
                <a:solidFill>
                  <a:srgbClr val="9CA3AF"/>
                </a:solidFill>
              </a:defRPr>
            </a:pPr>
            <a:r>
              <a:t>• trycloudflare público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  <a:latin typeface="Arial"/>
              </a:defRPr>
            </a:pPr>
            <a:r>
              <a:t>ALGORITMO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Motor de Recomendaciones Híbrido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3F4F6"/>
                </a:solidFill>
              </a:defRPr>
            </a:pPr>
            <a:r>
              <a:t>Filosofía del Recomendador</a:t>
            </a:r>
          </a:p>
          <a:p>
            <a:pPr>
              <a:spcAft>
                <a:spcPts val="1000"/>
              </a:spcAft>
              <a:defRPr sz="1500">
                <a:solidFill>
                  <a:srgbClr val="9CA3AF"/>
                </a:solidFill>
              </a:defRPr>
            </a:pPr>
            <a:r>
              <a:t>✔ 70% Afinidad: Prioriza los géneros e historial de interacción que el usuario ha calificado positivamente.</a:t>
            </a:r>
          </a:p>
          <a:p>
            <a:pPr>
              <a:spcAft>
                <a:spcPts val="1000"/>
              </a:spcAft>
              <a:defRPr sz="1500">
                <a:solidFill>
                  <a:srgbClr val="9CA3AF"/>
                </a:solidFill>
              </a:defRPr>
            </a:pPr>
            <a:r>
              <a:t>✔ 30% Exploración: Inserta recomendaciones sorpresa bien valoradas críticamente en el mundo, para incentivar el descubrimiento.</a:t>
            </a:r>
          </a:p>
          <a:p>
            <a:pPr>
              <a:spcAft>
                <a:spcPts val="1000"/>
              </a:spcAft>
              <a:defRPr sz="1500">
                <a:solidFill>
                  <a:srgbClr val="9CA3AF"/>
                </a:solidFill>
              </a:defRPr>
            </a:pPr>
            <a:r>
              <a:t>✔ Filtro de Exclusión: Las películas ya vistas, marcadas con Likes o Dislikes, se filtran automáticamente de los candidatos.</a:t>
            </a:r>
          </a:p>
          <a:p>
            <a:pPr>
              <a:spcAft>
                <a:spcPts val="1000"/>
              </a:spcAft>
              <a:defRPr sz="1500">
                <a:solidFill>
                  <a:srgbClr val="9CA3AF"/>
                </a:solidFill>
              </a:defRPr>
            </a:pPr>
            <a:r>
              <a:t>✔ Intercalación Estructurada: Alterna afinidad y exploración para evitar la fatiga y mantener una UI dinámica.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E50914"/>
                </a:solidFill>
              </a:defRPr>
            </a:pPr>
            <a:r>
              <a:t>Fórmula Matemática de Scoring</a:t>
            </a:r>
          </a:p>
          <a:p>
            <a:pPr>
              <a:spcAft>
                <a:spcPts val="1400"/>
              </a:spcAft>
              <a:defRPr sz="1600" b="1">
                <a:solidFill>
                  <a:srgbClr val="F3F4F6"/>
                </a:solidFill>
                <a:latin typeface="Consolas"/>
              </a:defRPr>
            </a:pPr>
            <a:r>
              <a:t>score = (</a:t>
            </a:r>
            <a:br/>
            <a:r>
              <a:t>    genre_score * 0.35 +</a:t>
            </a:r>
            <a:br/>
            <a:r>
              <a:t>    rating_score * 0.25 +</a:t>
            </a:r>
            <a:br/>
            <a:r>
              <a:t>    popularity_score * 0.20 +</a:t>
            </a:r>
            <a:br/>
            <a:r>
              <a:t>    exploration_bonus * 0.20</a:t>
            </a:r>
            <a:br/>
            <a:r>
              <a:t>)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• Genre Score (35%): Nivel de coincidencia con géneros preferidos.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• Rating Score (25%): Calificación crítica del catálogo real (TMDB).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• Popularity Score (20%): Tráfico e interés global de la película.</a:t>
            </a:r>
          </a:p>
          <a:p>
            <a:pPr>
              <a:spcAft>
                <a:spcPts val="400"/>
              </a:spcAft>
              <a:defRPr sz="1300">
                <a:solidFill>
                  <a:srgbClr val="9CA3AF"/>
                </a:solidFill>
              </a:defRPr>
            </a:pPr>
            <a:r>
              <a:t>• Exploration Bonus (20%): Bono asignado dinámicamente para descubrimiento.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  <a:latin typeface="Arial"/>
              </a:defRPr>
            </a:pPr>
            <a:r>
              <a:t>INTERACCIÓN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Flujo de Experiencia de Usuario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920240" cy="731520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3F4F6"/>
                </a:solidFill>
              </a:defRPr>
            </a:pPr>
            <a:r>
              <a:t>1.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CA3AF"/>
                </a:solidFill>
              </a:defRPr>
            </a:pPr>
            <a:r>
              <a:t>El usuario elige géneros y películas conocidas para iniciar perfil.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011680"/>
            <a:ext cx="18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011680"/>
            <a:ext cx="1920240" cy="731520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3F4F6"/>
                </a:solidFill>
              </a:defRPr>
            </a:pPr>
            <a:r>
              <a:t>2. Generación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92608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CA3AF"/>
                </a:solidFill>
              </a:defRPr>
            </a:pPr>
            <a:r>
              <a:t>El backend calcula scores híbridos y descarta películas vistas.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011680"/>
            <a:ext cx="18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2011680"/>
            <a:ext cx="1920240" cy="731520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3F4F6"/>
                </a:solidFill>
              </a:defRPr>
            </a:pPr>
            <a:r>
              <a:t>3. Visualización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92608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CA3AF"/>
                </a:solidFill>
              </a:defRPr>
            </a:pPr>
            <a:r>
              <a:t>React despliega las películas con explicaciones de afinidad/exploración.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11680"/>
            <a:ext cx="18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2011680"/>
            <a:ext cx="1920240" cy="731520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3F4F6"/>
                </a:solidFill>
              </a:defRPr>
            </a:pPr>
            <a:r>
              <a:t>4.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92608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CA3AF"/>
                </a:solidFill>
              </a:defRPr>
            </a:pPr>
            <a:r>
              <a:t>El usuario califica con Likes o Dislikes en tiempo real.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011680"/>
            <a:ext cx="1828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50914"/>
                </a:solidFill>
              </a:defRPr>
            </a:pPr>
            <a: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011680"/>
            <a:ext cx="1920240" cy="731520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3F4F6"/>
                </a:solidFill>
              </a:defRPr>
            </a:pPr>
            <a:r>
              <a:t>5. Recalibración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926080"/>
            <a:ext cx="1920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CA3AF"/>
                </a:solidFill>
              </a:defRPr>
            </a:pPr>
            <a:r>
              <a:t>El sistema actualiza el perfil y refresca las recomendaciones.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  <a:latin typeface="Arial"/>
              </a:defRPr>
            </a:pPr>
            <a:r>
              <a:t>UX E INTERFAZ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Explicabilidad y Transparencia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F3F4F6"/>
                </a:solidFill>
              </a:defRPr>
            </a:pPr>
            <a:r>
              <a:t>Explicación del Algoritmo</a:t>
            </a:r>
          </a:p>
          <a:p>
            <a:pPr>
              <a:spcAft>
                <a:spcPts val="1000"/>
              </a:spcAft>
              <a:defRPr sz="1500">
                <a:solidFill>
                  <a:srgbClr val="9CA3AF"/>
                </a:solidFill>
              </a:defRPr>
            </a:pPr>
            <a:r>
              <a:t>✔ Metadatos Enriquecidos: Cada película devuelta contiene detalles sobre el por qué de su selección.</a:t>
            </a:r>
          </a:p>
          <a:p>
            <a:pPr>
              <a:spcAft>
                <a:spcPts val="1000"/>
              </a:spcAft>
              <a:defRPr sz="1500">
                <a:solidFill>
                  <a:srgbClr val="9CA3AF"/>
                </a:solidFill>
              </a:defRPr>
            </a:pPr>
            <a:r>
              <a:t>✔ Tipos de Recomendación: Se expone visualmente si es 'afinidad' (affinity) o 'exploración' (exploration).</a:t>
            </a:r>
          </a:p>
          <a:p>
            <a:pPr>
              <a:spcAft>
                <a:spcPts val="1000"/>
              </a:spcAft>
              <a:defRPr sz="1500">
                <a:solidFill>
                  <a:srgbClr val="9CA3AF"/>
                </a:solidFill>
              </a:defRPr>
            </a:pPr>
            <a:r>
              <a:t>✔ Justificaciones Textuales: Textos dinámicos en lenguaje natural que explican la coincidencia.</a:t>
            </a:r>
          </a:p>
          <a:p>
            <a:pPr>
              <a:spcAft>
                <a:spcPts val="1000"/>
              </a:spcAft>
              <a:defRPr sz="1500">
                <a:solidFill>
                  <a:srgbClr val="9CA3AF"/>
                </a:solidFill>
              </a:defRPr>
            </a:pPr>
            <a:r>
              <a:t>✔ Construcción de Confianza: El usuario no siente que es una 'caja negra', aumentando la interacción.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E50914"/>
                </a:solidFill>
              </a:defRPr>
            </a:pPr>
            <a:r>
              <a:t>Ejemplo de Respuesta JSON del API</a:t>
            </a:r>
          </a:p>
          <a:p>
            <a:pPr>
              <a:spcAft>
                <a:spcPts val="1400"/>
              </a:spcAft>
              <a:defRPr sz="1600" b="1">
                <a:solidFill>
                  <a:srgbClr val="F3F4F6"/>
                </a:solidFill>
                <a:latin typeface="Consolas"/>
              </a:defRPr>
            </a:pPr>
            <a:r>
              <a:t>{</a:t>
            </a:r>
            <a:br/>
            <a:r>
              <a:t>  "title": "Interestelar",</a:t>
            </a:r>
            <a:br/>
            <a:r>
              <a:t>  "genres": ["Ciencia Ficción", "Drama"],</a:t>
            </a:r>
            <a:br/>
            <a:r>
              <a:t>  "rating": 8.5,</a:t>
            </a:r>
            <a:br/>
            <a:r>
              <a:t>  "type": "affinity",</a:t>
            </a:r>
            <a:br/>
            <a:r>
              <a:t>  "reason": "Porque te gusta la Ciencia Ficción"</a:t>
            </a:r>
            <a:br/>
            <a:r>
              <a:t>}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El frontend mapea directamente estos valores e inserta etiquetas descriptivas en cada MovieCard de forma limpia.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  <a:latin typeface="Arial"/>
              </a:defRPr>
            </a:pPr>
            <a:r>
              <a:t>OBSTÁCULOS SUPERADOS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Dificultades y Soluciones Técnicas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291840" cy="3931920"/>
          </a:xfrm>
          <a:prstGeom prst="rect">
            <a:avLst/>
          </a:prstGeom>
          <a:solidFill>
            <a:srgbClr val="1F293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50914"/>
                </a:solidFill>
              </a:defRPr>
            </a:pPr>
            <a:r>
              <a:t>Ratings Irreales e Inflados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⚠️ Problema: Ratings de catálogo superaban el 9.5, quitando credibilidad.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</a:defRPr>
            </a:pPr>
            <a:r>
              <a:t>💡 Solución: Se normalizaron calificaciones y se configuró un clamp a un máximo realista de 9.0. El promedio de ratings en populares es de 7.84.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828800"/>
            <a:ext cx="3291840" cy="3931920"/>
          </a:xfrm>
          <a:prstGeom prst="rect">
            <a:avLst/>
          </a:prstGeom>
          <a:solidFill>
            <a:srgbClr val="1F293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9202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50914"/>
                </a:solidFill>
              </a:defRPr>
            </a:pPr>
            <a:r>
              <a:t>Duplicidad en Películas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⚠️ Problema: Películas idénticas aparecían en recomendaciones y populares.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</a:defRPr>
            </a:pPr>
            <a:r>
              <a:t>💡 Solución: Implementación de sets de unicidad en FastAPI y queries con cláusulas DISTINCT mapeadas por tmdb_id.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828800"/>
            <a:ext cx="3291840" cy="3931920"/>
          </a:xfrm>
          <a:prstGeom prst="rect">
            <a:avLst/>
          </a:prstGeom>
          <a:solidFill>
            <a:srgbClr val="1F293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19202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50914"/>
                </a:solidFill>
              </a:defRPr>
            </a:pPr>
            <a:r>
              <a:t>Restricciones SQLite y DateTime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</a:defRPr>
            </a:pPr>
            <a:r>
              <a:t>⚠️ Problema: SQLite DateTime column arroja TypeError al guardar strings de TMDB.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</a:defRPr>
            </a:pPr>
            <a:r>
              <a:t>💡 Solución: Implementación de conversor string YYYY-MM-DD a datetime.date y datetime.datetime objetos nativos en Python.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50914"/>
                </a:solidFill>
                <a:latin typeface="Arial"/>
              </a:defRPr>
            </a:pPr>
            <a:r>
              <a:t>LOGROS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3F4F6"/>
                </a:solidFill>
                <a:latin typeface="Arial"/>
              </a:defRPr>
            </a:pPr>
            <a:r>
              <a:t>Conclusiones del Proyecto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371600" cy="54864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★ Sistemas Realistas de Valor: La importación de datos reales de TMDB cambia totalmente la percepción de usabilidad del producto.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★ Algoritmia Híbrida Inteligente: El motor resuelve eficazmente la paradoja de la elección, balanceando familiaridad y descubrimiento.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★ Importancia de la Explicabilidad: Mostrar al usuario el 'por qué' de cada recomendación mejora significativamente el engagement.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★ Arquitectura Portable SQLite: La modularidad desacoplada facilita un deploy robusto en la nube (Railway) y arranques rápidos en local.</a:t>
            </a:r>
          </a:p>
          <a:p>
            <a:pPr>
              <a:spcAft>
                <a:spcPts val="1400"/>
              </a:spcAft>
              <a:defRPr sz="1800">
                <a:solidFill>
                  <a:srgbClr val="F3F4F6"/>
                </a:solidFill>
              </a:defRPr>
            </a:pPr>
            <a:r>
              <a:t>★ Entrega Universitaria Profesional: Listo para evaluación sin configuraciones técnicas manuales complejas.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3F4F6"/>
                </a:solidFill>
                <a:latin typeface="Arial"/>
              </a:defRPr>
            </a:pPr>
            <a:r>
              <a:t>¡Muchas Gracias!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017520"/>
            <a:ext cx="2286000" cy="73152"/>
          </a:xfrm>
          <a:prstGeom prst="rect">
            <a:avLst/>
          </a:prstGeom>
          <a:solidFill>
            <a:srgbClr val="E50914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9CA3AF"/>
                </a:solidFill>
                <a:latin typeface="Arial"/>
              </a:defRPr>
            </a:pPr>
            <a:r>
              <a:t>CineIntelli V2 — Recomendación Inteligente de Películas</a:t>
            </a:r>
            <a:br/>
            <a:r>
              <a:t>Preguntas y respuestas del jurado.</a:t>
            </a:r>
          </a:p>
          <a:p>
            <a:pPr>
              <a:defRPr sz="1500">
                <a:solidFill>
                  <a:srgbClr val="F3F4F6"/>
                </a:solidFill>
                <a:latin typeface="Arial"/>
              </a:defRPr>
            </a:pPr>
            <a:r>
              <a:t>Eleangie Valentina Mendoza Gómez  •  Daniel José Tavera Carreño</a:t>
            </a:r>
            <a:br/>
            <a:r>
              <a:t>🐱 github.com/erikonta77/peliculas (rama otra)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