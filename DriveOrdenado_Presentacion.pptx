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A56DB">
              <a:alpha val="15000"/>
            </a:srgbClr>
          </a:solidFill>
          <a:ln w="12700">
            <a:solidFill>
              <a:srgbClr val="1A56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0" y="0"/>
            <a:ext cx="0" cy="5143500"/>
          </a:xfrm>
          <a:prstGeom prst="line">
            <a:avLst/>
          </a:prstGeom>
          <a:noFill/>
          <a:ln w="635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0"/>
            <a:ext cx="0" cy="5143500"/>
          </a:xfrm>
          <a:prstGeom prst="line">
            <a:avLst/>
          </a:prstGeom>
          <a:noFill/>
          <a:ln w="635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635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0" y="0"/>
            <a:ext cx="0" cy="5143500"/>
          </a:xfrm>
          <a:prstGeom prst="line">
            <a:avLst/>
          </a:prstGeom>
          <a:noFill/>
          <a:ln w="635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347472"/>
            <a:ext cx="2194560" cy="292608"/>
          </a:xfrm>
          <a:prstGeom prst="rect">
            <a:avLst>
              <a:gd name="adj" fmla="val 15625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474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PROYECTO FINAL DE PROGRAMACIÓN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02920" y="77724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Drive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502920" y="16002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Ordenado</a:t>
            </a:r>
            <a:endParaRPr lang="en-US" sz="6400" dirty="0"/>
          </a:p>
        </p:txBody>
      </p:sp>
      <p:sp>
        <p:nvSpPr>
          <p:cNvPr id="14" name="Text 12"/>
          <p:cNvSpPr/>
          <p:nvPr/>
        </p:nvSpPr>
        <p:spPr>
          <a:xfrm>
            <a:off x="502920" y="26517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2E8F0"/>
                </a:solidFill>
              </a:rPr>
              <a:t>Automatización inteligente para la organización de archivos en Google Drive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3291840"/>
            <a:ext cx="4114800" cy="36576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4564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</a:rPr>
              <a:t>👥 Integrantes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331720" y="345643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Mendoza Gómez Eleangie Valentina (2242557)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Tavera Carreño Daniel José (2243042)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39319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</a:rPr>
              <a:t>🎓 Universidad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331720" y="39319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Proyecto Universitario – Programación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44074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</a:rPr>
              <a:t>📅 Fecha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331720" y="44074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Mayo 2026</a:t>
            </a:r>
            <a:endParaRPr lang="en-US" sz="9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280160"/>
            <a:ext cx="2103120" cy="210312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502920" y="4709160"/>
            <a:ext cx="3840480" cy="237744"/>
          </a:xfrm>
          <a:prstGeom prst="rect">
            <a:avLst>
              <a:gd name="adj" fmla="val 15385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47091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B6D4"/>
                </a:solidFill>
              </a:rPr>
              <a:t>🔗 github.com/Danko3104/Proyecto_Drive_Ordenado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914400"/>
            <a:ext cx="3657600" cy="3657600"/>
          </a:xfrm>
          <a:prstGeom prst="ellipse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74320"/>
            <a:ext cx="1371600" cy="256032"/>
          </a:xfrm>
          <a:prstGeom prst="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74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F1E"/>
                </a:solidFill>
              </a:rPr>
              <a:t>INTRODUCCIÓN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Problema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16459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463040"/>
            <a:ext cx="393192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8308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6459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Desorganización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34440" y="202996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Archivos acumulados sin estructura clara en Google Drive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09160" y="1463040"/>
            <a:ext cx="393192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78308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32120" y="16459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Pérdida de tiempo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532120" y="202996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Búsqueda manual de archivos consume minutos valiosos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11480" y="3063240"/>
            <a:ext cx="393192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38328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32461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Duplicados ocultos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234440" y="363016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Copias repetidas ocupan espacio sin ser detectadas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09160" y="3063240"/>
            <a:ext cx="393192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383280"/>
            <a:ext cx="502920" cy="5029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532120" y="32461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Sin visibilidad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532120" y="363016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No existe un resumen claro del estado de los archivos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1188720" cy="256032"/>
          </a:xfrm>
          <a:prstGeom prst="rect">
            <a:avLst>
              <a:gd name="adj" fmla="val 1428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F1E"/>
                </a:solidFill>
              </a:rPr>
              <a:t>OBJETIVOS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¿Qué queremos lograr?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207008"/>
            <a:ext cx="164592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71600"/>
            <a:ext cx="8321040" cy="914400"/>
          </a:xfrm>
          <a:prstGeom prst="rect">
            <a:avLst/>
          </a:prstGeom>
          <a:solidFill>
            <a:srgbClr val="0D2B40"/>
          </a:solidFill>
          <a:ln w="1905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630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4173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6DB"/>
                </a:solidFill>
              </a:rPr>
              <a:t>OBJETIVO GENERAL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234440" y="167335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Desarrollar una aplicación web con Python y Flask que automatice la organización de archivos en Google Drive desde Google Colab, sin necesidad de tocar código.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11480" y="2532888"/>
            <a:ext cx="274320" cy="274320"/>
          </a:xfrm>
          <a:prstGeom prst="ellipse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3288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2960" y="24688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1.  Escanear y clasificar archivos automáticamente por tipo, fecha y extensión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11480" y="3035808"/>
            <a:ext cx="274320" cy="274320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035808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2960" y="29718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2.  Organizar en jerarquías de carpetas configurables por el usuario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11480" y="3538728"/>
            <a:ext cx="274320" cy="274320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538728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22960" y="34747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3.  Detectar archivos duplicados usando hash MD5 para ahorrar espacio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411480" y="4041648"/>
            <a:ext cx="274320" cy="274320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4041648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22960" y="39776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4.  Generar reportes CSV y gráficas interactivas con estadísticas completas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411480" y="4544568"/>
            <a:ext cx="274320" cy="274320"/>
          </a:xfrm>
          <a:prstGeom prst="ellipse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4544568"/>
            <a:ext cx="274320" cy="27432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22960" y="44805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5.  Exponer la interfaz públicamente mediante tunneling con trycloudflare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1645920" cy="256032"/>
          </a:xfrm>
          <a:prstGeom prst="rect">
            <a:avLst>
              <a:gd name="adj" fmla="val 14286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TECNOLOGÍAS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Stack Tecnológico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207008"/>
            <a:ext cx="1645920" cy="36576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17320"/>
            <a:ext cx="1920240" cy="150876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4632" y="1490472"/>
            <a:ext cx="594360" cy="182880"/>
          </a:xfrm>
          <a:prstGeom prst="rect">
            <a:avLst>
              <a:gd name="adj" fmla="val 15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49047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A0F1E"/>
                </a:solidFill>
              </a:rPr>
              <a:t>Backend</a:t>
            </a:r>
            <a:endParaRPr lang="en-US" sz="6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1691640"/>
            <a:ext cx="594360" cy="594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2377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Python 3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2920" y="26517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Lenguaje principal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560320" y="1417320"/>
            <a:ext cx="1920240" cy="1508760"/>
          </a:xfrm>
          <a:prstGeom prst="rect">
            <a:avLst/>
          </a:prstGeom>
          <a:solidFill>
            <a:srgbClr val="0D2B1E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633472" y="1490472"/>
            <a:ext cx="594360" cy="182880"/>
          </a:xfrm>
          <a:prstGeom prst="rect">
            <a:avLst>
              <a:gd name="adj" fmla="val 15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633472" y="149047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A0F1E"/>
                </a:solidFill>
              </a:rPr>
              <a:t>Backend</a:t>
            </a:r>
            <a:endParaRPr lang="en-US" sz="6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688" y="1691640"/>
            <a:ext cx="594360" cy="5943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651760" y="2377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Flask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651760" y="26517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Servidor web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4709160" y="1417320"/>
            <a:ext cx="1920240" cy="1508760"/>
          </a:xfrm>
          <a:prstGeom prst="rect">
            <a:avLst/>
          </a:prstGeom>
          <a:solidFill>
            <a:srgbClr val="2B2200"/>
          </a:solidFill>
          <a:ln w="12700">
            <a:solidFill>
              <a:srgbClr val="FACC1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782312" y="1490472"/>
            <a:ext cx="594360" cy="182880"/>
          </a:xfrm>
          <a:prstGeom prst="rect">
            <a:avLst>
              <a:gd name="adj" fmla="val 15000"/>
            </a:avLst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782312" y="149047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A0F1E"/>
                </a:solidFill>
              </a:rPr>
              <a:t>Entorno</a:t>
            </a:r>
            <a:endParaRPr lang="en-US" sz="65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528" y="1691640"/>
            <a:ext cx="594360" cy="5943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800600" y="2377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Google Colab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4800600" y="26517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Entorno de ejecución</a:t>
            </a:r>
            <a:endParaRPr lang="en-US" sz="800" dirty="0"/>
          </a:p>
        </p:txBody>
      </p:sp>
      <p:sp>
        <p:nvSpPr>
          <p:cNvPr id="24" name="Shape 19"/>
          <p:cNvSpPr/>
          <p:nvPr/>
        </p:nvSpPr>
        <p:spPr>
          <a:xfrm>
            <a:off x="6858000" y="1417320"/>
            <a:ext cx="1920240" cy="1508760"/>
          </a:xfrm>
          <a:prstGeom prst="rect">
            <a:avLst/>
          </a:prstGeom>
          <a:solidFill>
            <a:srgbClr val="2B0F0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931152" y="1490472"/>
            <a:ext cx="594360" cy="182880"/>
          </a:xfrm>
          <a:prstGeom prst="rect">
            <a:avLst>
              <a:gd name="adj" fmla="val 15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931152" y="149047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A0F1E"/>
                </a:solidFill>
              </a:rPr>
              <a:t>Storage</a:t>
            </a:r>
            <a:endParaRPr lang="en-US" sz="65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6368" y="1691640"/>
            <a:ext cx="594360" cy="5943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949440" y="2377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Google Drive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6949440" y="26517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Almacenamiento de archivos</a:t>
            </a:r>
            <a:endParaRPr lang="en-US" sz="800" dirty="0"/>
          </a:p>
        </p:txBody>
      </p:sp>
      <p:sp>
        <p:nvSpPr>
          <p:cNvPr id="30" name="Shape 24"/>
          <p:cNvSpPr/>
          <p:nvPr/>
        </p:nvSpPr>
        <p:spPr>
          <a:xfrm>
            <a:off x="411480" y="3154680"/>
            <a:ext cx="1920240" cy="1508760"/>
          </a:xfrm>
          <a:prstGeom prst="rect">
            <a:avLst/>
          </a:prstGeom>
          <a:solidFill>
            <a:srgbClr val="1E1040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484632" y="3227832"/>
            <a:ext cx="594360" cy="182880"/>
          </a:xfrm>
          <a:prstGeom prst="rect">
            <a:avLst>
              <a:gd name="adj" fmla="val 15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484632" y="322783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A0F1E"/>
                </a:solidFill>
              </a:rPr>
              <a:t>Datos</a:t>
            </a:r>
            <a:endParaRPr lang="en-US" sz="65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48" y="3429000"/>
            <a:ext cx="594360" cy="59436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02920" y="4114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pandas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502920" y="43891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Análisis de datos</a:t>
            </a:r>
            <a:endParaRPr lang="en-US" sz="800" dirty="0"/>
          </a:p>
        </p:txBody>
      </p:sp>
      <p:sp>
        <p:nvSpPr>
          <p:cNvPr id="36" name="Shape 29"/>
          <p:cNvSpPr/>
          <p:nvPr/>
        </p:nvSpPr>
        <p:spPr>
          <a:xfrm>
            <a:off x="2560320" y="3154680"/>
            <a:ext cx="1920240" cy="1508760"/>
          </a:xfrm>
          <a:prstGeom prst="rect">
            <a:avLst/>
          </a:prstGeom>
          <a:solidFill>
            <a:srgbClr val="2B180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2633472" y="3227832"/>
            <a:ext cx="594360" cy="182880"/>
          </a:xfrm>
          <a:prstGeom prst="rect">
            <a:avLst>
              <a:gd name="adj" fmla="val 15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2633472" y="322783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A0F1E"/>
                </a:solidFill>
              </a:rPr>
              <a:t>Sistema</a:t>
            </a:r>
            <a:endParaRPr lang="en-US" sz="650" dirty="0"/>
          </a:p>
        </p:txBody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8688" y="3429000"/>
            <a:ext cx="594360" cy="59436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2651760" y="4114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os / shutil</a:t>
            </a:r>
            <a:endParaRPr lang="en-US" sz="1100" dirty="0"/>
          </a:p>
        </p:txBody>
      </p:sp>
      <p:sp>
        <p:nvSpPr>
          <p:cNvPr id="41" name="Text 33"/>
          <p:cNvSpPr/>
          <p:nvPr/>
        </p:nvSpPr>
        <p:spPr>
          <a:xfrm>
            <a:off x="2651760" y="43891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Manejo de archivos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4709160" y="3154680"/>
            <a:ext cx="1920240" cy="1508760"/>
          </a:xfrm>
          <a:prstGeom prst="rect">
            <a:avLst/>
          </a:prstGeom>
          <a:solidFill>
            <a:srgbClr val="0A2030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4782312" y="3227832"/>
            <a:ext cx="594360" cy="182880"/>
          </a:xfrm>
          <a:prstGeom prst="rect">
            <a:avLst>
              <a:gd name="adj" fmla="val 15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4782312" y="322783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A0F1E"/>
                </a:solidFill>
              </a:rPr>
              <a:t>Red</a:t>
            </a:r>
            <a:endParaRPr lang="en-US" sz="650" dirty="0"/>
          </a:p>
        </p:txBody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67528" y="3429000"/>
            <a:ext cx="594360" cy="594360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4800600" y="4114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cloudflared</a:t>
            </a:r>
            <a:endParaRPr lang="en-US" sz="1100" dirty="0"/>
          </a:p>
        </p:txBody>
      </p:sp>
      <p:sp>
        <p:nvSpPr>
          <p:cNvPr id="47" name="Text 38"/>
          <p:cNvSpPr/>
          <p:nvPr/>
        </p:nvSpPr>
        <p:spPr>
          <a:xfrm>
            <a:off x="4800600" y="43891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Tunneling público</a:t>
            </a:r>
            <a:endParaRPr lang="en-US" sz="800" dirty="0"/>
          </a:p>
        </p:txBody>
      </p:sp>
      <p:sp>
        <p:nvSpPr>
          <p:cNvPr id="48" name="Shape 39"/>
          <p:cNvSpPr/>
          <p:nvPr/>
        </p:nvSpPr>
        <p:spPr>
          <a:xfrm>
            <a:off x="6858000" y="3154680"/>
            <a:ext cx="1920240" cy="1508760"/>
          </a:xfrm>
          <a:prstGeom prst="rect">
            <a:avLst/>
          </a:prstGeom>
          <a:solidFill>
            <a:srgbClr val="1A1F2E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9" name="Shape 40"/>
          <p:cNvSpPr/>
          <p:nvPr/>
        </p:nvSpPr>
        <p:spPr>
          <a:xfrm>
            <a:off x="6931152" y="3227832"/>
            <a:ext cx="594360" cy="182880"/>
          </a:xfrm>
          <a:prstGeom prst="rect">
            <a:avLst>
              <a:gd name="adj" fmla="val 15000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0" name="Text 41"/>
          <p:cNvSpPr/>
          <p:nvPr/>
        </p:nvSpPr>
        <p:spPr>
          <a:xfrm>
            <a:off x="6931152" y="322783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A0F1E"/>
                </a:solidFill>
              </a:rPr>
              <a:t>DevOps</a:t>
            </a:r>
            <a:endParaRPr lang="en-US" sz="650" dirty="0"/>
          </a:p>
        </p:txBody>
      </p:sp>
      <p:pic>
        <p:nvPicPr>
          <p:cNvPr id="5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16368" y="3429000"/>
            <a:ext cx="594360" cy="594360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6949440" y="4114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GitHub</a:t>
            </a:r>
            <a:endParaRPr lang="en-US" sz="1100" dirty="0"/>
          </a:p>
        </p:txBody>
      </p:sp>
      <p:sp>
        <p:nvSpPr>
          <p:cNvPr id="53" name="Text 43"/>
          <p:cNvSpPr/>
          <p:nvPr/>
        </p:nvSpPr>
        <p:spPr>
          <a:xfrm>
            <a:off x="6949440" y="43891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Control de versiones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828800" cy="256032"/>
          </a:xfrm>
          <a:prstGeom prst="rect">
            <a:avLst>
              <a:gd name="adj" fmla="val 14286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F1E"/>
                </a:solidFill>
              </a:rPr>
              <a:t>ARQUITECTURA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Flujo del Sistema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16459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17320"/>
            <a:ext cx="1463040" cy="1645920"/>
          </a:xfrm>
          <a:prstGeom prst="rect">
            <a:avLst/>
          </a:prstGeom>
          <a:solidFill>
            <a:srgbClr val="0D1B3E"/>
          </a:solidFill>
          <a:ln w="1905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325880"/>
            <a:ext cx="438912" cy="43891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325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E"/>
                </a:solidFill>
              </a:rPr>
              <a:t>1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572768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20040" y="2148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Usuario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20040" y="24688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Configura opciones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en el navegador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1755648" y="2240280"/>
            <a:ext cx="23774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920240" y="216712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993392" y="1417320"/>
            <a:ext cx="1463040" cy="1645920"/>
          </a:xfrm>
          <a:prstGeom prst="rect">
            <a:avLst/>
          </a:prstGeom>
          <a:solidFill>
            <a:srgbClr val="051A20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496312" y="1325880"/>
            <a:ext cx="438912" cy="43891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496312" y="1325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E"/>
                </a:solidFill>
              </a:rPr>
              <a:t>2</a:t>
            </a:r>
            <a:endParaRPr lang="en-US" sz="14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1572768"/>
            <a:ext cx="502920" cy="5029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039112" y="2148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Interfaz Web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039112" y="24688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Flask + HTML5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Responsive UI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3474720" y="2240280"/>
            <a:ext cx="23774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639312" y="216712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3712464" y="1417320"/>
            <a:ext cx="1463040" cy="1645920"/>
          </a:xfrm>
          <a:prstGeom prst="rect">
            <a:avLst/>
          </a:prstGeom>
          <a:solidFill>
            <a:srgbClr val="15103A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215384" y="1325880"/>
            <a:ext cx="438912" cy="43891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215384" y="1325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E"/>
                </a:solidFill>
              </a:rPr>
              <a:t>3</a:t>
            </a:r>
            <a:endParaRPr lang="en-US" sz="14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7952" y="1572768"/>
            <a:ext cx="502920" cy="5029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3758184" y="2148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Procesamiento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3758184" y="24688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organizer.py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duplicates.py</a:t>
            </a:r>
            <a:endParaRPr lang="en-US" sz="850" dirty="0"/>
          </a:p>
        </p:txBody>
      </p:sp>
      <p:sp>
        <p:nvSpPr>
          <p:cNvPr id="28" name="Shape 23"/>
          <p:cNvSpPr/>
          <p:nvPr/>
        </p:nvSpPr>
        <p:spPr>
          <a:xfrm>
            <a:off x="5193792" y="2240280"/>
            <a:ext cx="23774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358384" y="216712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5431536" y="1417320"/>
            <a:ext cx="1463040" cy="1645920"/>
          </a:xfrm>
          <a:prstGeom prst="rect">
            <a:avLst/>
          </a:prstGeom>
          <a:solidFill>
            <a:srgbClr val="0A2018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5934456" y="1325880"/>
            <a:ext cx="438912" cy="43891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5934456" y="1325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E"/>
                </a:solidFill>
              </a:rPr>
              <a:t>4</a:t>
            </a:r>
            <a:endParaRPr lang="en-US" sz="140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7024" y="1572768"/>
            <a:ext cx="502920" cy="50292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477256" y="2148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Organización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5477256" y="24688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Mueve archivos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con shutil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6912864" y="2240280"/>
            <a:ext cx="23774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7077456" y="216712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7150608" y="1417320"/>
            <a:ext cx="1463040" cy="1645920"/>
          </a:xfrm>
          <a:prstGeom prst="rect">
            <a:avLst/>
          </a:prstGeom>
          <a:solidFill>
            <a:srgbClr val="1F1200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7653528" y="1325880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7653528" y="1325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E"/>
                </a:solidFill>
              </a:rPr>
              <a:t>5</a:t>
            </a:r>
            <a:endParaRPr lang="en-US" sz="1400" dirty="0"/>
          </a:p>
        </p:txBody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6096" y="1572768"/>
            <a:ext cx="502920" cy="502920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7196328" y="2148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Reportes</a:t>
            </a:r>
            <a:endParaRPr lang="en-US" sz="1100" dirty="0"/>
          </a:p>
        </p:txBody>
      </p:sp>
      <p:sp>
        <p:nvSpPr>
          <p:cNvPr id="43" name="Text 36"/>
          <p:cNvSpPr/>
          <p:nvPr/>
        </p:nvSpPr>
        <p:spPr>
          <a:xfrm>
            <a:off x="7196328" y="24688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CSV + gráficas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interactivas</a:t>
            </a:r>
            <a:endParaRPr lang="en-US" sz="850" dirty="0"/>
          </a:p>
        </p:txBody>
      </p:sp>
      <p:sp>
        <p:nvSpPr>
          <p:cNvPr id="44" name="Shape 37"/>
          <p:cNvSpPr/>
          <p:nvPr/>
        </p:nvSpPr>
        <p:spPr>
          <a:xfrm>
            <a:off x="411480" y="3291840"/>
            <a:ext cx="832104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383280"/>
            <a:ext cx="347472" cy="347472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1051560" y="3337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Acceso público mediante</a:t>
            </a:r>
            <a:endParaRPr lang="en-US" sz="1000" dirty="0"/>
          </a:p>
        </p:txBody>
      </p:sp>
      <p:sp>
        <p:nvSpPr>
          <p:cNvPr id="47" name="Text 39"/>
          <p:cNvSpPr/>
          <p:nvPr/>
        </p:nvSpPr>
        <p:spPr>
          <a:xfrm>
            <a:off x="1051560" y="3611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Cloudflare Tunnel (trycloudflare)</a:t>
            </a:r>
            <a:endParaRPr lang="en-US" sz="1100" dirty="0"/>
          </a:p>
        </p:txBody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3383280"/>
            <a:ext cx="347472" cy="347472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5029200" y="3337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Google Drive montado en</a:t>
            </a:r>
            <a:endParaRPr lang="en-US" sz="1000" dirty="0"/>
          </a:p>
        </p:txBody>
      </p:sp>
      <p:sp>
        <p:nvSpPr>
          <p:cNvPr id="50" name="Text 41"/>
          <p:cNvSpPr/>
          <p:nvPr/>
        </p:nvSpPr>
        <p:spPr>
          <a:xfrm>
            <a:off x="5029200" y="3611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/content/drive en Colab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56032"/>
            <a:ext cx="2011680" cy="256032"/>
          </a:xfrm>
          <a:prstGeom prst="rect">
            <a:avLst>
              <a:gd name="adj" fmla="val 14286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FUNCIONALIDAD 1/5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Escaneo de Archivos</a:t>
            </a:r>
            <a:endParaRPr lang="en-US" sz="3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594360"/>
            <a:ext cx="822960" cy="822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1371600"/>
            <a:ext cx="4114800" cy="2560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5800" y="14630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</a:rPr>
              <a:t>¿Cómo funciona?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19202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✔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Recorre recursivamente cualquier carpeta seleccionada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85800" y="24231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✔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Lee metadatos: nombre, extensión, tamaño y fecha de modificación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5800" y="29260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✔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Muestra un preview con conteo y peso total antes de actuar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85800" y="34290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✔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Detecta rutas relativas y absolutas de Google Drive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846320" y="1371600"/>
            <a:ext cx="3886200" cy="1005840"/>
          </a:xfrm>
          <a:prstGeom prst="rect">
            <a:avLst/>
          </a:prstGeom>
          <a:solidFill>
            <a:srgbClr val="0D2B1E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508760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86400" y="14173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Beneficio para el usuario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029200" y="17373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Visibilidad total de sus archivos antes de realizar cualquier cambio.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846320" y="2560320"/>
            <a:ext cx="3886200" cy="1371600"/>
          </a:xfrm>
          <a:prstGeom prst="rect">
            <a:avLst/>
          </a:prstGeom>
          <a:solidFill>
            <a:srgbClr val="080C14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5029200" y="261518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</a:rPr>
              <a:t>organizer.py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4983480" y="2871216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root, dirs, files in os.walk(ruta):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archivo in files: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datos = obtener_metadatos(archivo)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lista_archivos.append(datos)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502920" y="4114800"/>
            <a:ext cx="8229600" cy="73152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22960" y="4251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</a:rPr>
              <a:t>📁 Escaneo recursivo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2926080" y="4251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</a:rPr>
              <a:t>🔍 Preview previo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5029200" y="4251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</a:rPr>
              <a:t>📊 Metadatos completos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949440" y="4251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</a:rPr>
              <a:t>⚡ Antes de mover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56032"/>
            <a:ext cx="2011680" cy="256032"/>
          </a:xfrm>
          <a:prstGeom prst="rect">
            <a:avLst>
              <a:gd name="adj" fmla="val 1428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F1E"/>
                </a:solidFill>
              </a:rPr>
              <a:t>FUNCIONALIDAD 2/5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Clasificación Automática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11480" y="3794760"/>
            <a:ext cx="8321040" cy="1078992"/>
          </a:xfrm>
          <a:prstGeom prst="rect">
            <a:avLst/>
          </a:prstGeom>
          <a:solidFill>
            <a:srgbClr val="080C1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</a:rPr>
              <a:t>Estructura generada: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4114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MiCarpeta/  ├── Documentos/  ├── Imagenes/  ├── Multimedia/  └── Otros/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417320"/>
            <a:ext cx="1965960" cy="2194560"/>
          </a:xfrm>
          <a:prstGeom prst="rect">
            <a:avLst/>
          </a:prstGeom>
          <a:solidFill>
            <a:srgbClr val="0D1B3E"/>
          </a:solidFill>
          <a:ln w="1905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1554480"/>
            <a:ext cx="566928" cy="5669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221284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Documentos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02920" y="26060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.pdf  .docx  .doc  .txt  .pptx  .xlsx  .csv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587752" y="1417320"/>
            <a:ext cx="1965960" cy="2194560"/>
          </a:xfrm>
          <a:prstGeom prst="rect">
            <a:avLst/>
          </a:prstGeom>
          <a:solidFill>
            <a:srgbClr val="0A2018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554480"/>
            <a:ext cx="566928" cy="56692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79192" y="221284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Imágenes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679192" y="26060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.jpg  .jpeg  .png  .gif  .bmp  .svg  .webp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764024" y="1417320"/>
            <a:ext cx="1965960" cy="2194560"/>
          </a:xfrm>
          <a:prstGeom prst="rect">
            <a:avLst/>
          </a:prstGeom>
          <a:solidFill>
            <a:srgbClr val="15103A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112" y="1554480"/>
            <a:ext cx="566928" cy="56692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855464" y="221284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Multimedia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855464" y="26060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.mp4  .mp3  .avi  .mov  .wav  .mkv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6940296" y="1417320"/>
            <a:ext cx="1965960" cy="2194560"/>
          </a:xfrm>
          <a:prstGeom prst="rect">
            <a:avLst/>
          </a:prstGeom>
          <a:solidFill>
            <a:srgbClr val="1F1200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4384" y="1554480"/>
            <a:ext cx="566928" cy="56692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31736" y="221284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Otros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031736" y="26060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cualquier otra extensión no reconocida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56032"/>
            <a:ext cx="2011680" cy="256032"/>
          </a:xfrm>
          <a:prstGeom prst="rect">
            <a:avLst>
              <a:gd name="adj" fmla="val 14286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FUNCIONALIDAD 3/5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Organización por Fecha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4114800" cy="3474720"/>
          </a:xfrm>
          <a:prstGeom prst="rect">
            <a:avLst/>
          </a:prstGeom>
          <a:solidFill>
            <a:srgbClr val="080C14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463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</a:rPr>
              <a:t>Jerarquía generada: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1783080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Documentos/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2024/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├── Enero/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│    └── pdf/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│         └── informe.pdf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└── Marzo/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├── docx/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│    └── tesis.docx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└── pdf/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└── notas.pdf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00600" y="13716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8 modos de organización disponibles: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783080"/>
            <a:ext cx="3931920" cy="621792"/>
          </a:xfrm>
          <a:prstGeom prst="rect">
            <a:avLst/>
          </a:prstGeom>
          <a:solidFill>
            <a:srgbClr val="111827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783080"/>
            <a:ext cx="73152" cy="62179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828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Tipo + Fecha + Extensión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83480" y="21031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Categoría → Año → Mes → ext/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00600" y="2532888"/>
            <a:ext cx="3931920" cy="621792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0600" y="2532888"/>
            <a:ext cx="73152" cy="6217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25786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Tipo + Extensión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83480" y="28529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Categoría → ext/ (sin fecha)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00600" y="3282696"/>
            <a:ext cx="3931920" cy="621792"/>
          </a:xfrm>
          <a:prstGeom prst="rect">
            <a:avLst/>
          </a:prstGeom>
          <a:solidFill>
            <a:srgbClr val="111827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3282696"/>
            <a:ext cx="73152" cy="6217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33284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Fecha + Categoría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83480" y="36027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Año → Mes → Categoría → ext/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00600" y="4032504"/>
            <a:ext cx="3931920" cy="621792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4032504"/>
            <a:ext cx="73152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40782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Por Tamaño + Categoría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83480" y="43525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Pequeños_1MB / Medianos / Grandes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56032"/>
            <a:ext cx="2011680" cy="256032"/>
          </a:xfrm>
          <a:prstGeom prst="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F1E"/>
                </a:solidFill>
              </a:rPr>
              <a:t>FUNCIONALIDAD 4/5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Movimiento Seguro de Archivos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4023360" cy="1463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3736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5544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Preview previo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325880" y="193852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Muestra resumen antes de mover: cantidad de archivos, espacio y duplicados detectados.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800600" y="1371600"/>
            <a:ext cx="4023360" cy="1463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73736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15000" y="15544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Sin eliminaciones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715000" y="193852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Los archivos solo se mueven, NUNCA se borran. Seguridad garantizada para el usuario.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11480" y="3063240"/>
            <a:ext cx="4023360" cy="1463040"/>
          </a:xfrm>
          <a:prstGeom prst="rect">
            <a:avLst/>
          </a:prstGeom>
          <a:solidFill>
            <a:srgbClr val="111827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42900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5880" y="32461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Renombrado auto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325880" y="363016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Si ya existe un archivo con el mismo nombre en destino, se renombra automáticamente.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800600" y="3063240"/>
            <a:ext cx="4023360" cy="146304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429000"/>
            <a:ext cx="548640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715000" y="32461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Advertencia de Drive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5715000" y="363016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Avisa si se intenta organizar la raíz completa de Google Drive para evitar accidentes.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56032"/>
            <a:ext cx="2011680" cy="256032"/>
          </a:xfrm>
          <a:prstGeom prst="rect">
            <a:avLst>
              <a:gd name="adj" fmla="val 14286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F1E"/>
                </a:solidFill>
              </a:rPr>
              <a:t>FUNCIONALIDAD 5/5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Generación de Reportes CSV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5029200" cy="2560320"/>
          </a:xfrm>
          <a:prstGeom prst="rect">
            <a:avLst/>
          </a:prstGeom>
          <a:solidFill>
            <a:srgbClr val="080C14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21208" y="1389888"/>
            <a:ext cx="969264" cy="2926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38988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F1E"/>
                </a:solidFill>
              </a:rPr>
              <a:t>Nombre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508760" y="1389888"/>
            <a:ext cx="969264" cy="2926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138988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F1E"/>
                </a:solidFill>
              </a:rPr>
              <a:t>Categoría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496312" y="1389888"/>
            <a:ext cx="969264" cy="2926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96312" y="138988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F1E"/>
                </a:solidFill>
              </a:rPr>
              <a:t>Extensión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483864" y="1389888"/>
            <a:ext cx="969264" cy="2926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83864" y="138988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F1E"/>
                </a:solidFill>
              </a:rPr>
              <a:t>Tamaño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471416" y="1389888"/>
            <a:ext cx="969264" cy="2926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71416" y="138988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F1E"/>
                </a:solidFill>
              </a:rPr>
              <a:t>Fecha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21208" y="1700784"/>
            <a:ext cx="969264" cy="3657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1700784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tesis.pdf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508760" y="1700784"/>
            <a:ext cx="969264" cy="3657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08760" y="1700784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Documentos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496312" y="1700784"/>
            <a:ext cx="969264" cy="3657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96312" y="1700784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.pdf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483864" y="1700784"/>
            <a:ext cx="969264" cy="3657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83864" y="1700784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2.4 MB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471416" y="1700784"/>
            <a:ext cx="969264" cy="3657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71416" y="1700784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2024-03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21208" y="2084832"/>
            <a:ext cx="969264" cy="365760"/>
          </a:xfrm>
          <a:prstGeom prst="rect">
            <a:avLst/>
          </a:prstGeom>
          <a:solidFill>
            <a:srgbClr val="0D152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" y="2084832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foto.jpg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508760" y="2084832"/>
            <a:ext cx="969264" cy="365760"/>
          </a:xfrm>
          <a:prstGeom prst="rect">
            <a:avLst/>
          </a:prstGeom>
          <a:solidFill>
            <a:srgbClr val="0D152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08760" y="2084832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Imágenes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496312" y="2084832"/>
            <a:ext cx="969264" cy="365760"/>
          </a:xfrm>
          <a:prstGeom prst="rect">
            <a:avLst/>
          </a:prstGeom>
          <a:solidFill>
            <a:srgbClr val="0D152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96312" y="2084832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.jpg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483864" y="2084832"/>
            <a:ext cx="969264" cy="365760"/>
          </a:xfrm>
          <a:prstGeom prst="rect">
            <a:avLst/>
          </a:prstGeom>
          <a:solidFill>
            <a:srgbClr val="0D152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83864" y="2084832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1.1 MB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471416" y="2084832"/>
            <a:ext cx="969264" cy="365760"/>
          </a:xfrm>
          <a:prstGeom prst="rect">
            <a:avLst/>
          </a:prstGeom>
          <a:solidFill>
            <a:srgbClr val="0D152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71416" y="2084832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2024-01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21208" y="2468880"/>
            <a:ext cx="969264" cy="3657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1208" y="2468880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video.mp4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508760" y="2468880"/>
            <a:ext cx="969264" cy="3657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508760" y="2468880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Multimedia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496312" y="2468880"/>
            <a:ext cx="969264" cy="3657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96312" y="2468880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.mp4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483864" y="2468880"/>
            <a:ext cx="969264" cy="3657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83864" y="2468880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45 MB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471416" y="2468880"/>
            <a:ext cx="969264" cy="3657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71416" y="2468880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2023-11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669280" y="1389888"/>
            <a:ext cx="301752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5852160" y="14356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🍩 Categorías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852160" y="16916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Gráfica de dona por tipo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669280" y="2167128"/>
            <a:ext cx="301752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5852160" y="22128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 Por año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852160" y="24688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Barras de actividad anual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669280" y="2944368"/>
            <a:ext cx="301752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5852160" y="29900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🔵 Extensiones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852160" y="32461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Circular por extensiones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02920" y="4114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reporter.py – genera CSV con pandas y estadísticas del proceso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8B5CF6">
              <a:alpha val="12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56032"/>
            <a:ext cx="2286000" cy="256032"/>
          </a:xfrm>
          <a:prstGeom prst="rect">
            <a:avLst>
              <a:gd name="adj" fmla="val 14286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ELEMENTOS CREATIVOS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Funciones que van más allá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2697480" cy="3520440"/>
          </a:xfrm>
          <a:prstGeom prst="rect">
            <a:avLst/>
          </a:prstGeom>
          <a:solidFill>
            <a:srgbClr val="2B0F0F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35608" y="1463040"/>
            <a:ext cx="640080" cy="640080"/>
          </a:xfrm>
          <a:prstGeom prst="ellipse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608" y="146304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21284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Detección de Duplicados (MD5)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274320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Calcula el hash MD5 de cada archivo. Identifica copias exactas aunque tengan nombres distintos. Muestra hash completo y ubicaciones en el reporte.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48640" y="4114800"/>
            <a:ext cx="2423160" cy="594360"/>
          </a:xfrm>
          <a:prstGeom prst="rect">
            <a:avLst/>
          </a:prstGeom>
          <a:solidFill>
            <a:srgbClr val="0A152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4114800"/>
            <a:ext cx="242316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💡 Ahorra espacio en Drive sin borrar accidentalmente.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263640" y="1371600"/>
            <a:ext cx="2697480" cy="3520440"/>
          </a:xfrm>
          <a:prstGeom prst="rect">
            <a:avLst/>
          </a:prstGeom>
          <a:solidFill>
            <a:srgbClr val="15103A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287768" y="1463040"/>
            <a:ext cx="640080" cy="640080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7768" y="1463040"/>
            <a:ext cx="640080" cy="6400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400800" y="221284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Modo Oscuro / Claro 🌙☀️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400800" y="274320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Interfaz web con switch de tema. El reporte detallado también respeta el modo elegido. Persistente durante la sesión.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400800" y="4114800"/>
            <a:ext cx="2423160" cy="594360"/>
          </a:xfrm>
          <a:prstGeom prst="rect">
            <a:avLst/>
          </a:prstGeom>
          <a:solidFill>
            <a:srgbClr val="0A152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00800" y="4114800"/>
            <a:ext cx="242316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💡 Experiencia de usuario moderna y personalizable.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3337560" y="1371600"/>
            <a:ext cx="2697480" cy="3520440"/>
          </a:xfrm>
          <a:prstGeom prst="rect">
            <a:avLst/>
          </a:prstGeom>
          <a:solidFill>
            <a:srgbClr val="1F1200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361688" y="1463040"/>
            <a:ext cx="640080" cy="640080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688" y="1463040"/>
            <a:ext cx="640080" cy="6400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474720" y="221284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Organización por Tamaño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3474720" y="274320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Crea carpetas: Pequeños_1MB / Medianos_1-10MB / Grandes_10-100MB / Muy_Grandes_100MB+. Combina con categorías y extensiones.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3474720" y="4114800"/>
            <a:ext cx="2423160" cy="594360"/>
          </a:xfrm>
          <a:prstGeom prst="rect">
            <a:avLst/>
          </a:prstGeom>
          <a:solidFill>
            <a:srgbClr val="0A152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3474720" y="4114800"/>
            <a:ext cx="242316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💡 Facilita gestionar cuota de almacenamiento.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37360" cy="256032"/>
          </a:xfrm>
          <a:prstGeom prst="rect">
            <a:avLst>
              <a:gd name="adj" fmla="val 14286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INTERFAZ WEB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Experiencia de Usuario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5120640" cy="3520440"/>
          </a:xfrm>
          <a:prstGeom prst="rect">
            <a:avLst/>
          </a:prstGeom>
          <a:solidFill>
            <a:srgbClr val="0D152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25880"/>
            <a:ext cx="5120640" cy="292608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08176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" y="1408176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" y="1408176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34440" y="1380744"/>
            <a:ext cx="2926080" cy="173736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1380744"/>
            <a:ext cx="2926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https://xxxx.trycloudflare.com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94360" y="171907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📁 Drive Ordenado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" y="2176272"/>
            <a:ext cx="466344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176272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Ruta de la carpeta: /content/drive/MyDrive/...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94360" y="2615184"/>
            <a:ext cx="466344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61518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Carpeta destino (opcional): /content/drive/...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94360" y="310896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✅ Organizar por fecha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4360" y="336499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✅ Organizar por extensión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" y="362102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⬜ Detectar duplicados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94360" y="3931920"/>
            <a:ext cx="2286000" cy="320040"/>
          </a:xfrm>
          <a:prstGeom prst="rect">
            <a:avLst>
              <a:gd name="adj" fmla="val 14286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931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Organizar Archivos →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0" y="1371600"/>
            <a:ext cx="3063240" cy="713232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3872" y="1572768"/>
            <a:ext cx="329184" cy="329184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263640" y="14630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Preview interactivo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263640" y="175564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Ve los cambios antes de confirmar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5669280" y="2212848"/>
            <a:ext cx="3063240" cy="713232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2414016"/>
            <a:ext cx="329184" cy="329184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6263640" y="23042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Modo oscuro/claro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6263640" y="259689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Switch en esquina superior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5669280" y="3895344"/>
            <a:ext cx="3063240" cy="713232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872" y="4096512"/>
            <a:ext cx="329184" cy="329184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263640" y="398678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Descargar CSV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6263640" y="427939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Datos completos del proceso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5669280" y="3054096"/>
            <a:ext cx="3063240" cy="713232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3872" y="3255264"/>
            <a:ext cx="329184" cy="329184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263640" y="314553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Gráficas en reporte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6263640" y="343814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Dona, barras y circular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2011680" cy="256032"/>
          </a:xfrm>
          <a:prstGeom prst="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F1E"/>
                </a:solidFill>
              </a:rPr>
              <a:t>FLUJO DE EJECUCIÓN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Paso a Paso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2651760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74520"/>
            <a:ext cx="365760" cy="36576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E"/>
                </a:solidFill>
              </a:rPr>
              <a:t>1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78308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16002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Seleccionar carpeta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737360" y="201168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El usuario ingresa la ruta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de Drive en el formulario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337560" y="1371600"/>
            <a:ext cx="2651760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74720" y="1874520"/>
            <a:ext cx="365760" cy="36576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7472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E"/>
                </a:solidFill>
              </a:rPr>
              <a:t>2</a:t>
            </a:r>
            <a:endParaRPr lang="en-US" sz="11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40" y="1783080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63440" y="16002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Análisis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663440" y="201168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El sistema escanea todos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los archivos recursivamente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263640" y="1371600"/>
            <a:ext cx="2651760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00800" y="1874520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0080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E"/>
                </a:solidFill>
              </a:rPr>
              <a:t>3</a:t>
            </a:r>
            <a:endParaRPr lang="en-US" sz="11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783080"/>
            <a:ext cx="548640" cy="5486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589520" y="16002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Clasificación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7589520" y="201168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Se clasifica por tipo,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fecha y extensión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411480" y="3154680"/>
            <a:ext cx="2651760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4864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E"/>
                </a:solidFill>
              </a:rPr>
              <a:t>4</a:t>
            </a:r>
            <a:endParaRPr lang="en-US" sz="11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3566160"/>
            <a:ext cx="548640" cy="5486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737360" y="33832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Creación de carpetas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1737360" y="379476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Se crean subcarpetas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según el modo elegido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3337560" y="3154680"/>
            <a:ext cx="2651760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474720" y="3657600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347472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E"/>
                </a:solidFill>
              </a:rPr>
              <a:t>5</a:t>
            </a:r>
            <a:endParaRPr lang="en-US" sz="110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7640" y="3566160"/>
            <a:ext cx="548640" cy="54864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663440" y="33832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Mover archivos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4663440" y="379476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shutil.move() mueve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cada archivo a su destino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6263640" y="3154680"/>
            <a:ext cx="2651760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400800" y="3657600"/>
            <a:ext cx="365760" cy="3657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640080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E"/>
                </a:solidFill>
              </a:rPr>
              <a:t>6</a:t>
            </a:r>
            <a:endParaRPr lang="en-US" sz="1100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3720" y="3566160"/>
            <a:ext cx="548640" cy="54864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7589520" y="33832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Generar reporte</a:t>
            </a:r>
            <a:endParaRPr lang="en-US" sz="1050" dirty="0"/>
          </a:p>
        </p:txBody>
      </p:sp>
      <p:sp>
        <p:nvSpPr>
          <p:cNvPr id="40" name="Text 32"/>
          <p:cNvSpPr/>
          <p:nvPr/>
        </p:nvSpPr>
        <p:spPr>
          <a:xfrm>
            <a:off x="7589520" y="379476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CSV + gráficas con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resumen del proceso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2103120" cy="256032"/>
          </a:xfrm>
          <a:prstGeom prst="rect">
            <a:avLst>
              <a:gd name="adj" fmla="val 1428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F1E"/>
                </a:solidFill>
              </a:rPr>
              <a:t>ARQUITECTURA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Código y Modularización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3154680"/>
            <a:ext cx="4023360" cy="1554480"/>
          </a:xfrm>
          <a:prstGeom prst="rect">
            <a:avLst/>
          </a:prstGeom>
          <a:solidFill>
            <a:srgbClr val="111827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356616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124712" y="3264408"/>
            <a:ext cx="1645920" cy="274320"/>
          </a:xfrm>
          <a:prstGeom prst="rect">
            <a:avLst/>
          </a:prstGeom>
          <a:solidFill>
            <a:srgbClr val="080C1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24712" y="32644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duplicates.py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4712" y="359359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Detección de duplicados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24712" y="3904488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calc_md5(): hash de archivo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24712" y="4133088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find_duplicates(): comparación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124712" y="4361688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group_by_hash(): agrupación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24712" y="4590288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report_dups(): listado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11480" y="1371600"/>
            <a:ext cx="4023360" cy="1554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783080"/>
            <a:ext cx="457200" cy="4572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1124712" y="1481328"/>
            <a:ext cx="1645920" cy="274320"/>
          </a:xfrm>
          <a:prstGeom prst="rect">
            <a:avLst/>
          </a:prstGeom>
          <a:solidFill>
            <a:srgbClr val="080C1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24712" y="14813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organizer.py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1124712" y="181051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Módulo principal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1124712" y="2121408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scan_files(): escaneo recursivo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1124712" y="2350008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classify_file(): clasifica por tipo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1124712" y="2578608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move_files(): mueve con shutil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1124712" y="2807208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build_tree(): crea estructura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4800600" y="1371600"/>
            <a:ext cx="4023360" cy="1554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192" y="1783080"/>
            <a:ext cx="457200" cy="457200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5513832" y="1481328"/>
            <a:ext cx="1645920" cy="274320"/>
          </a:xfrm>
          <a:prstGeom prst="rect">
            <a:avLst/>
          </a:prstGeom>
          <a:solidFill>
            <a:srgbClr val="080C1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5513832" y="14813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reporter.py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5513832" y="181051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Generación de informes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5513832" y="2121408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generate_csv(): exporta con pandas</a:t>
            </a:r>
            <a:endParaRPr lang="en-US" sz="850" dirty="0"/>
          </a:p>
        </p:txBody>
      </p:sp>
      <p:sp>
        <p:nvSpPr>
          <p:cNvPr id="29" name="Text 24"/>
          <p:cNvSpPr/>
          <p:nvPr/>
        </p:nvSpPr>
        <p:spPr>
          <a:xfrm>
            <a:off x="5513832" y="2350008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build_report(): HTML interactivo</a:t>
            </a:r>
            <a:endParaRPr lang="en-US" sz="850" dirty="0"/>
          </a:p>
        </p:txBody>
      </p:sp>
      <p:sp>
        <p:nvSpPr>
          <p:cNvPr id="30" name="Text 25"/>
          <p:cNvSpPr/>
          <p:nvPr/>
        </p:nvSpPr>
        <p:spPr>
          <a:xfrm>
            <a:off x="5513832" y="2578608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add_charts(): gráficas JS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5513832" y="2807208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get_stats(): estadísticas</a:t>
            </a:r>
            <a:endParaRPr lang="en-US" sz="850" dirty="0"/>
          </a:p>
        </p:txBody>
      </p:sp>
      <p:sp>
        <p:nvSpPr>
          <p:cNvPr id="32" name="Shape 27"/>
          <p:cNvSpPr/>
          <p:nvPr/>
        </p:nvSpPr>
        <p:spPr>
          <a:xfrm>
            <a:off x="4800600" y="3154680"/>
            <a:ext cx="4023360" cy="155448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3566160"/>
            <a:ext cx="457200" cy="457200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5513832" y="3264408"/>
            <a:ext cx="1645920" cy="274320"/>
          </a:xfrm>
          <a:prstGeom prst="rect">
            <a:avLst/>
          </a:prstGeom>
          <a:solidFill>
            <a:srgbClr val="080C1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5513832" y="32644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5513832" y="359359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Servidor Flask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513832" y="3904488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/ → formulario principal</a:t>
            </a:r>
            <a:endParaRPr lang="en-US" sz="850" dirty="0"/>
          </a:p>
        </p:txBody>
      </p:sp>
      <p:sp>
        <p:nvSpPr>
          <p:cNvPr id="38" name="Text 32"/>
          <p:cNvSpPr/>
          <p:nvPr/>
        </p:nvSpPr>
        <p:spPr>
          <a:xfrm>
            <a:off x="5513832" y="4133088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/scan → análisis previo</a:t>
            </a:r>
            <a:endParaRPr lang="en-US" sz="850" dirty="0"/>
          </a:p>
        </p:txBody>
      </p:sp>
      <p:sp>
        <p:nvSpPr>
          <p:cNvPr id="39" name="Text 33"/>
          <p:cNvSpPr/>
          <p:nvPr/>
        </p:nvSpPr>
        <p:spPr>
          <a:xfrm>
            <a:off x="5513832" y="4361688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/organize → ejecutar</a:t>
            </a:r>
            <a:endParaRPr lang="en-US" sz="850" dirty="0"/>
          </a:p>
        </p:txBody>
      </p:sp>
      <p:sp>
        <p:nvSpPr>
          <p:cNvPr id="40" name="Text 34"/>
          <p:cNvSpPr/>
          <p:nvPr/>
        </p:nvSpPr>
        <p:spPr>
          <a:xfrm>
            <a:off x="5513832" y="4590288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/report → ver reporte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1828800"/>
            <a:ext cx="3657600" cy="3657600"/>
          </a:xfrm>
          <a:prstGeom prst="ellipse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56032"/>
            <a:ext cx="1737360" cy="256032"/>
          </a:xfrm>
          <a:prstGeom prst="rect">
            <a:avLst>
              <a:gd name="adj" fmla="val 1428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F1E"/>
                </a:solidFill>
              </a:rPr>
              <a:t>RESULTADOS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Resultados Obtenidos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ANTES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3840480" cy="2194560"/>
          </a:xfrm>
          <a:prstGeom prst="rect">
            <a:avLst/>
          </a:prstGeom>
          <a:solidFill>
            <a:srgbClr val="1A0808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" y="16916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81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MiDrive/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58368" y="194767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81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📄 tesis_final_v3.pdf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58368" y="220370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81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📄 tesis_final_v4.pdf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8368" y="245973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81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🖼 foto_vacaciones.jpg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58368" y="271576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81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🎵 cancion.mp3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58368" y="297180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81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📄 documento sin nombre.docx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8368" y="322783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81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📦 archivos varios sin orden...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43484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→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892040" y="12984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DESPUÉS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92040" y="1600200"/>
            <a:ext cx="3840480" cy="2194560"/>
          </a:xfrm>
          <a:prstGeom prst="rect">
            <a:avLst/>
          </a:prstGeom>
          <a:solidFill>
            <a:srgbClr val="051A10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47488" y="16916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Documentos/2024/Marzo/pdf/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47488" y="194767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📄 tesis_final_v3.pdf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47488" y="220370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📄 tesis_final_v4_copy.pdf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47488" y="245973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Imagenes/2024/Enero/jpg/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47488" y="271576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🖼 foto_vacaciones.jpg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47488" y="297180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Multimedia/2024/mp3/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47488" y="322783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🎵 cancion.mp3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" y="3977640"/>
            <a:ext cx="8321040" cy="86868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0599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✅ Archivos movidos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43342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sin pérdida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651760" y="40599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🗂 Carpetas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651760" y="43342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organizadas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54880" y="40599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📊 CSV generado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54880" y="43342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automático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58000" y="40599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🔍 Duplicados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58000" y="43342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detectados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2286000" cy="256032"/>
          </a:xfrm>
          <a:prstGeom prst="rect">
            <a:avLst>
              <a:gd name="adj" fmla="val 14286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DIFICULTADES Y SOLUCIONES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Obstáculos superados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4023360" cy="1005840"/>
          </a:xfrm>
          <a:prstGeom prst="rect">
            <a:avLst/>
          </a:prstGeom>
          <a:solidFill>
            <a:srgbClr val="111827"/>
          </a:solidFill>
          <a:ln w="63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25880"/>
            <a:ext cx="73152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60020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33272" y="13990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CA5A5"/>
                </a:solidFill>
              </a:rPr>
              <a:t>⚠ Rutas relativas en Colab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033272" y="170992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✅ Uso de os.path.abspath() y os.path.join() para construir rutas absolutas compatibles.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800600" y="1325880"/>
            <a:ext cx="4023360" cy="1005840"/>
          </a:xfrm>
          <a:prstGeom prst="rect">
            <a:avLst/>
          </a:prstGeom>
          <a:solidFill>
            <a:srgbClr val="111827"/>
          </a:solidFill>
          <a:ln w="63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00600" y="1325880"/>
            <a:ext cx="73152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60020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22392" y="13990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CA5A5"/>
                </a:solidFill>
              </a:rPr>
              <a:t>⚠ Sobrescritura de archivos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5422392" y="170992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✅ Verificación previa con os.path.exists() y renombrado automático con sufijos _1, _2, etc.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11480" y="2560320"/>
            <a:ext cx="4023360" cy="1005840"/>
          </a:xfrm>
          <a:prstGeom prst="rect">
            <a:avLst/>
          </a:prstGeom>
          <a:solidFill>
            <a:srgbClr val="111827"/>
          </a:solidFill>
          <a:ln w="63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11480" y="2560320"/>
            <a:ext cx="73152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83464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33272" y="26334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CA5A5"/>
                </a:solidFill>
              </a:rPr>
              <a:t>⚠ Detección de duplicados lenta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1033272" y="294436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✅ Cálculo MD5 con buffer de 8192 bytes. Proceso opcional para carpetas grandes.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800600" y="2560320"/>
            <a:ext cx="4023360" cy="1005840"/>
          </a:xfrm>
          <a:prstGeom prst="rect">
            <a:avLst/>
          </a:prstGeom>
          <a:solidFill>
            <a:srgbClr val="111827"/>
          </a:solidFill>
          <a:ln w="63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00600" y="2560320"/>
            <a:ext cx="73152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2834640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22392" y="26334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CA5A5"/>
                </a:solidFill>
              </a:rPr>
              <a:t>⚠ Acceso externo desde Colab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5422392" y="294436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✅ Implementación de cloudflared con trycloudflare para generar URL pública temporal.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411480" y="3794760"/>
            <a:ext cx="4023360" cy="1005840"/>
          </a:xfrm>
          <a:prstGeom prst="rect">
            <a:avLst/>
          </a:prstGeom>
          <a:solidFill>
            <a:srgbClr val="111827"/>
          </a:solidFill>
          <a:ln w="63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11480" y="3794760"/>
            <a:ext cx="73152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4069080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33272" y="38679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CA5A5"/>
                </a:solidFill>
              </a:rPr>
              <a:t>⚠ Organización de Drive completo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1033272" y="417880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✅ Advertencia de seguridad al detectar ruta raíz. Confirmación obligatoria del usuario.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4800600" y="3794760"/>
            <a:ext cx="4023360" cy="1005840"/>
          </a:xfrm>
          <a:prstGeom prst="rect">
            <a:avLst/>
          </a:prstGeom>
          <a:solidFill>
            <a:srgbClr val="111827"/>
          </a:solidFill>
          <a:ln w="63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800600" y="3794760"/>
            <a:ext cx="73152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5192" y="4069080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422392" y="38679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CA5A5"/>
                </a:solidFill>
              </a:rPr>
              <a:t>⚠ Interfaz sin framework JS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5422392" y="417880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✅ HTML5 + CSS3 + JavaScript vanilla para máxima compatibilidad sin dependencias extra.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914400"/>
            <a:ext cx="4572000" cy="4572000"/>
          </a:xfrm>
          <a:prstGeom prst="ellipse">
            <a:avLst/>
          </a:prstGeom>
          <a:solidFill>
            <a:srgbClr val="1A56DB">
              <a:alpha val="12000"/>
            </a:srgbClr>
          </a:solidFill>
          <a:ln w="12700">
            <a:solidFill>
              <a:srgbClr val="1A56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56032"/>
            <a:ext cx="1828800" cy="256032"/>
          </a:xfrm>
          <a:prstGeom prst="rect">
            <a:avLst>
              <a:gd name="adj" fmla="val 14286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CONCLUSIONES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 que logramos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11480" y="1463040"/>
            <a:ext cx="347472" cy="347472"/>
          </a:xfrm>
          <a:prstGeom prst="ellipse">
            <a:avLst/>
          </a:prstGeom>
          <a:solidFill>
            <a:srgbClr val="1A56DB">
              <a:alpha val="75000"/>
            </a:srgbClr>
          </a:solidFill>
          <a:ln w="12700">
            <a:solidFill>
              <a:srgbClr val="1A56DB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6304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37160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</a:rPr>
              <a:t>Automatización exitosa de un problema real y cotidiano usando Python y Flask.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11480" y="2057400"/>
            <a:ext cx="347472" cy="347472"/>
          </a:xfrm>
          <a:prstGeom prst="ellipse">
            <a:avLst/>
          </a:prstGeom>
          <a:solidFill>
            <a:srgbClr val="10B981">
              <a:alpha val="75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57400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196596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</a:rPr>
              <a:t>Aplicación práctica de programación modular: cada módulo cumple una responsabilidad clara.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11480" y="3246120"/>
            <a:ext cx="347472" cy="347472"/>
          </a:xfrm>
          <a:prstGeom prst="ellipse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46120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14400" y="315468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</a:rPr>
              <a:t>Integración completa con Google Drive y Colab como entorno de producción.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411480" y="2651760"/>
            <a:ext cx="347472" cy="347472"/>
          </a:xfrm>
          <a:prstGeom prst="ellipse">
            <a:avLst/>
          </a:prstGeom>
          <a:solidFill>
            <a:srgbClr val="8B5CF6">
              <a:alpha val="75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651760"/>
            <a:ext cx="347472" cy="3474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14400" y="256032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</a:rPr>
              <a:t>Interfaz web accesible para usuarios no técnicos, sin tocar código directamente.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411480" y="3840480"/>
            <a:ext cx="347472" cy="347472"/>
          </a:xfrm>
          <a:prstGeom prst="ellipse">
            <a:avLst/>
          </a:prstGeom>
          <a:solidFill>
            <a:srgbClr val="06B6D4">
              <a:alpha val="75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840480"/>
            <a:ext cx="347472" cy="34747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14400" y="374904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</a:rPr>
              <a:t>Los reportes y gráficas transforman datos técnicos en información visual accionable.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411480" y="4434840"/>
            <a:ext cx="347472" cy="347472"/>
          </a:xfrm>
          <a:prstGeom prst="ellipse">
            <a:avLst/>
          </a:prstGeom>
          <a:solidFill>
            <a:srgbClr val="EF4444">
              <a:alpha val="75000"/>
            </a:srgbClr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4434840"/>
            <a:ext cx="347472" cy="34747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914400" y="434340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</a:rPr>
              <a:t>El proyecto demuestra que con Python se pueden construir herramientas reales de valor.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914400"/>
            <a:ext cx="6400800" cy="6400800"/>
          </a:xfrm>
          <a:prstGeom prst="ellipse">
            <a:avLst/>
          </a:prstGeom>
          <a:solidFill>
            <a:srgbClr val="1A56DB">
              <a:alpha val="12000"/>
            </a:srgbClr>
          </a:solidFill>
          <a:ln w="12700">
            <a:solidFill>
              <a:srgbClr val="1A56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4572000" cy="4572000"/>
          </a:xfrm>
          <a:prstGeom prst="ellipse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5080">
            <a:solidFill>
              <a:srgbClr val="1A56DB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0"/>
            <a:ext cx="0" cy="5143500"/>
          </a:xfrm>
          <a:prstGeom prst="line">
            <a:avLst/>
          </a:prstGeom>
          <a:noFill/>
          <a:ln w="5080">
            <a:solidFill>
              <a:srgbClr val="1A56DB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5080">
            <a:solidFill>
              <a:srgbClr val="1A56DB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03320" y="0"/>
            <a:ext cx="0" cy="5143500"/>
          </a:xfrm>
          <a:prstGeom prst="line">
            <a:avLst/>
          </a:prstGeom>
          <a:noFill/>
          <a:ln w="5080">
            <a:solidFill>
              <a:srgbClr val="1A56DB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5080">
            <a:solidFill>
              <a:srgbClr val="1A56DB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72200" y="0"/>
            <a:ext cx="0" cy="5143500"/>
          </a:xfrm>
          <a:prstGeom prst="line">
            <a:avLst/>
          </a:prstGeom>
          <a:noFill/>
          <a:ln w="5080">
            <a:solidFill>
              <a:srgbClr val="1A56DB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5080">
            <a:solidFill>
              <a:srgbClr val="1A56DB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41080" y="0"/>
            <a:ext cx="0" cy="5143500"/>
          </a:xfrm>
          <a:prstGeom prst="line">
            <a:avLst/>
          </a:prstGeom>
          <a:noFill/>
          <a:ln w="5080">
            <a:solidFill>
              <a:srgbClr val="1A56DB">
                <a:alpha val="1500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411480"/>
            <a:ext cx="1371600" cy="13716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14400" y="17830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¡Gracias!</a:t>
            </a:r>
            <a:endParaRPr lang="en-US" sz="6200" dirty="0"/>
          </a:p>
        </p:txBody>
      </p:sp>
      <p:sp>
        <p:nvSpPr>
          <p:cNvPr id="14" name="Shape 11"/>
          <p:cNvSpPr/>
          <p:nvPr/>
        </p:nvSpPr>
        <p:spPr>
          <a:xfrm>
            <a:off x="2286000" y="2761488"/>
            <a:ext cx="457200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28803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Mendoza Gómez Eleangie Valentina  ·  Tavera Carreño Daniel José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011680" y="3337560"/>
            <a:ext cx="5120640" cy="292608"/>
          </a:xfrm>
          <a:prstGeom prst="rect">
            <a:avLst>
              <a:gd name="adj" fmla="val 18750"/>
            </a:avLst>
          </a:prstGeom>
          <a:solidFill>
            <a:srgbClr val="0D1B3E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011680" y="33375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</a:rPr>
              <a:t>🔗 github.com/Danko3104/Proyecto_Drive_Ordenado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38404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Proyecto Final de Programación  ·  Mayo 2026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94360" y="4389120"/>
            <a:ext cx="1234440" cy="256032"/>
          </a:xfrm>
          <a:prstGeom prst="rect">
            <a:avLst>
              <a:gd name="adj" fmla="val 14286"/>
            </a:avLst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43891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6B6D4"/>
                </a:solidFill>
              </a:rPr>
              <a:t>Python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1920240" y="4389120"/>
            <a:ext cx="1234440" cy="256032"/>
          </a:xfrm>
          <a:prstGeom prst="rect">
            <a:avLst>
              <a:gd name="adj" fmla="val 14286"/>
            </a:avLst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920240" y="43891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6B6D4"/>
                </a:solidFill>
              </a:rPr>
              <a:t>Flask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3246120" y="4389120"/>
            <a:ext cx="1234440" cy="256032"/>
          </a:xfrm>
          <a:prstGeom prst="rect">
            <a:avLst>
              <a:gd name="adj" fmla="val 14286"/>
            </a:avLst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46120" y="43891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6B6D4"/>
                </a:solidFill>
              </a:rPr>
              <a:t>pandas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4572000" y="4389120"/>
            <a:ext cx="1234440" cy="256032"/>
          </a:xfrm>
          <a:prstGeom prst="rect">
            <a:avLst>
              <a:gd name="adj" fmla="val 14286"/>
            </a:avLst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0" y="43891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6B6D4"/>
                </a:solidFill>
              </a:rPr>
              <a:t>Google Colab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5897880" y="4389120"/>
            <a:ext cx="1234440" cy="256032"/>
          </a:xfrm>
          <a:prstGeom prst="rect">
            <a:avLst>
              <a:gd name="adj" fmla="val 14286"/>
            </a:avLst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97880" y="43891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6B6D4"/>
                </a:solidFill>
              </a:rPr>
              <a:t>Google Drive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7223760" y="4389120"/>
            <a:ext cx="1234440" cy="256032"/>
          </a:xfrm>
          <a:prstGeom prst="rect">
            <a:avLst>
              <a:gd name="adj" fmla="val 14286"/>
            </a:avLst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23760" y="43891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6B6D4"/>
                </a:solidFill>
              </a:rPr>
              <a:t>GitHub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Drive Ordenado – Proyecto Final</dc:title>
  <dc:subject>PptxGenJS Presentation</dc:subject>
  <dc:creator>PptxGenJS</dc:creator>
  <cp:lastModifiedBy>PptxGenJS</cp:lastModifiedBy>
  <cp:revision>1</cp:revision>
  <dcterms:created xsi:type="dcterms:W3CDTF">2026-05-28T21:01:30Z</dcterms:created>
  <dcterms:modified xsi:type="dcterms:W3CDTF">2026-05-28T21:01:30Z</dcterms:modified>
</cp:coreProperties>
</file>